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262" r:id="rId4"/>
    <p:sldId id="263" r:id="rId5"/>
    <p:sldId id="259" r:id="rId6"/>
    <p:sldId id="260" r:id="rId7"/>
    <p:sldId id="261" r:id="rId8"/>
    <p:sldId id="264" r:id="rId9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766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1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28/11/2021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28/11/2021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2B5B4-4D0A-4964-A1A3-B85B0EE00890}" type="datetime1">
              <a:rPr lang="pt-BR" smtClean="0"/>
              <a:t>28/11/2021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3252B5-F3E6-4058-A723-196087E9E541}" type="datetime1">
              <a:rPr lang="pt-BR" smtClean="0"/>
              <a:t>28/11/2021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251DFA-97D2-4C90-9100-D1173CC96C37}" type="datetime1">
              <a:rPr lang="pt-BR" smtClean="0"/>
              <a:t>28/11/2021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1B26C-F0DB-4889-B6A3-FE07E152272F}" type="datetime1">
              <a:rPr lang="pt-BR" smtClean="0"/>
              <a:t>28/11/2021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565EE-A4B5-4AB4-9432-D16ECAE9EF1F}" type="datetime1">
              <a:rPr lang="pt-BR" smtClean="0"/>
              <a:t>28/11/2021</a:t>
            </a:fld>
            <a:endParaRPr lang="en-US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70C2D-02C8-4A1B-A79F-498A53DD951F}" type="datetime1">
              <a:rPr lang="pt-BR" smtClean="0"/>
              <a:t>28/11/2021</a:t>
            </a:fld>
            <a:endParaRPr lang="en-US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94EF83-1835-4C7A-B4B2-F0B720F5AC0B}" type="datetime1">
              <a:rPr lang="pt-BR" smtClean="0"/>
              <a:t>28/11/2021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os estilos de 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F5D5688-1774-4625-9E74-88EA94DB2550}" type="datetime1">
              <a:rPr lang="pt-BR" smtClean="0"/>
              <a:t>28/11/2021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D5E4E1C-696A-4E82-B6DD-87ECA4CC925A}" type="datetime1">
              <a:rPr lang="pt-BR" smtClean="0"/>
              <a:t>28/11/2021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E1A5F9-C71D-4DE8-8BF4-9F6FC06A94B8}" type="datetime1">
              <a:rPr lang="pt-BR" smtClean="0"/>
              <a:t>28/11/2021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1DCD7D-5BFD-485D-AED5-B62EAACA4CB6}" type="datetime1">
              <a:rPr lang="pt-BR" smtClean="0"/>
              <a:t>28/11/2021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28/11/2021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352339"/>
            <a:ext cx="6253317" cy="406026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/>
              <a:t>Um modelo matemático para organização de trabalho e manutenção de máquinas que executam trabalhos com deterioração  interdependente </a:t>
            </a:r>
            <a:endParaRPr lang="pt-br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673" y="4672738"/>
            <a:ext cx="7097086" cy="1904231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Professor: Gustavo Peixoto silva </a:t>
            </a:r>
          </a:p>
          <a:p>
            <a:pPr rtl="0"/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Turma:22</a:t>
            </a:r>
          </a:p>
          <a:p>
            <a:pPr rtl="0"/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Marcos Geraldo </a:t>
            </a: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</a:t>
            </a: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raga Emiliano 19.1.4012</a:t>
            </a:r>
          </a:p>
          <a:p>
            <a:pPr rtl="0"/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Vinícius Faria Barbosa 18.2.1233</a:t>
            </a:r>
            <a:endParaRPr lang="pt-br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Imagem 4" descr="Uma imagem contendo prédio, banco, bancada, lateral&#10;&#10;Descrição gerada automaticamente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ângulo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rtlCol="0" anchor="ctr">
            <a:normAutofit fontScale="90000"/>
          </a:bodyPr>
          <a:lstStyle/>
          <a:p>
            <a:pPr lvl="0" rtl="0"/>
            <a:r>
              <a:rPr lang="pt-BR" sz="2800" i="1" dirty="0">
                <a:solidFill>
                  <a:srgbClr val="FFFFFF"/>
                </a:solidFill>
              </a:rPr>
              <a:t>Máquinas que possuem alto nível de ocupação comumente apresentam problemas de desgaste que podem impactar severamente o seu desempenho. Nestes casos, atividades de manutenção podem ser planejadas para restaurar a produtividade máxima. Neste trabalho tratamos um problema de escalonamento de tarefas e manutenções em um conjunto de maquinas paralelas não correlatas </a:t>
            </a:r>
            <a:r>
              <a:rPr lang="pt-BR" sz="2400" i="1" dirty="0">
                <a:solidFill>
                  <a:srgbClr val="FFFFFF"/>
                </a:solidFill>
              </a:rPr>
              <a:t> </a:t>
            </a:r>
            <a:r>
              <a:rPr lang="pt-BR" sz="2800" i="1" dirty="0">
                <a:solidFill>
                  <a:srgbClr val="FFFFFF"/>
                </a:solidFill>
              </a:rPr>
              <a:t>em que se considera que o tempo de processamento cresce de acordo com um fator de deterioração que depende da maquina e da própria tarefa.</a:t>
            </a:r>
            <a:endParaRPr lang="pt-br" sz="6000" i="1" dirty="0">
              <a:solidFill>
                <a:srgbClr val="FFFFFF"/>
              </a:solidFill>
            </a:endParaRP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897" y="5410072"/>
            <a:ext cx="10905688" cy="958168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chemeClr val="bg1">
                    <a:lumMod val="85000"/>
                  </a:schemeClr>
                </a:solidFill>
              </a:rPr>
              <a:t>Problema de programação de máquinas (</a:t>
            </a:r>
            <a:r>
              <a:rPr lang="pt-BR" dirty="0" err="1">
                <a:solidFill>
                  <a:schemeClr val="bg1">
                    <a:lumMod val="85000"/>
                  </a:schemeClr>
                </a:solidFill>
              </a:rPr>
              <a:t>machine</a:t>
            </a:r>
            <a:r>
              <a:rPr lang="pt-BR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pt-BR" dirty="0" err="1">
                <a:solidFill>
                  <a:schemeClr val="bg1">
                    <a:lumMod val="85000"/>
                  </a:schemeClr>
                </a:solidFill>
              </a:rPr>
              <a:t>scheduling</a:t>
            </a:r>
            <a:r>
              <a:rPr lang="pt-BR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pt-br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79D2A-D83C-4E55-82F1-5D9406C35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Parâmetro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445E8A-7D83-44F3-92CE-EF7257F31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4635"/>
            <a:ext cx="10058400" cy="4412609"/>
          </a:xfrm>
        </p:spPr>
        <p:txBody>
          <a:bodyPr/>
          <a:lstStyle/>
          <a:p>
            <a:r>
              <a:rPr lang="pt-BR" dirty="0"/>
              <a:t>J={1,2,..,n} #Conjunto de Trabalhos Independentes;</a:t>
            </a:r>
          </a:p>
          <a:p>
            <a:r>
              <a:rPr lang="pt-BR" dirty="0"/>
              <a:t>M={1,2,..,m} #Conjuto de maquinas paralelas não correlatas;</a:t>
            </a:r>
          </a:p>
          <a:p>
            <a:r>
              <a:rPr lang="pt-BR" dirty="0"/>
              <a:t>P</a:t>
            </a:r>
            <a:r>
              <a:rPr lang="pt-BR" baseline="-25000" dirty="0"/>
              <a:t>i j </a:t>
            </a:r>
            <a:r>
              <a:rPr lang="pt-BR" dirty="0"/>
              <a:t>#Tempo de processamento do trabalho j ∈ J na maquina i ∈ M;</a:t>
            </a:r>
          </a:p>
          <a:p>
            <a:r>
              <a:rPr lang="pt-BR" dirty="0"/>
              <a:t>T</a:t>
            </a:r>
            <a:r>
              <a:rPr lang="pt-BR" baseline="-25000" dirty="0"/>
              <a:t>i</a:t>
            </a:r>
            <a:r>
              <a:rPr lang="pt-BR" baseline="30000" dirty="0"/>
              <a:t> </a:t>
            </a:r>
            <a:r>
              <a:rPr lang="pt-BR" dirty="0"/>
              <a:t>#Tempo de Manutenção da maquina i ∈ M;</a:t>
            </a:r>
          </a:p>
          <a:p>
            <a:r>
              <a:rPr lang="pt-BR" dirty="0"/>
              <a:t>D </a:t>
            </a:r>
            <a:r>
              <a:rPr lang="pt-BR" baseline="-25000" dirty="0"/>
              <a:t>i j </a:t>
            </a:r>
            <a:r>
              <a:rPr lang="pt-BR" dirty="0"/>
              <a:t># Incremento de tempo causado pela Deterioração da Maquina i ∈ M após processar o trabalho j ∈ J, &gt;=1;</a:t>
            </a:r>
          </a:p>
          <a:p>
            <a:r>
              <a:rPr lang="pt-BR" dirty="0"/>
              <a:t>H={1,2,..,|H|} # Set utilizado para definir a posição de uma atividade em uma maquina programável e não tem duração fixa;</a:t>
            </a:r>
          </a:p>
          <a:p>
            <a:endParaRPr lang="pt-BR" baseline="-25000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3E0786-E6F4-4EFB-8B44-F3C875A2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28/11/2021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74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E1B9B-40E9-4EE2-BF93-F25696B0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Desta forma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C19FD7-6C18-4DA1-B99D-8E0155A0A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tempo de processamento do trabalho j ∈ J na maquina i ∈ M é p</a:t>
            </a:r>
            <a:r>
              <a:rPr lang="pt-BR" baseline="-25000" dirty="0"/>
              <a:t>i j</a:t>
            </a:r>
            <a:r>
              <a:rPr lang="el-GR" dirty="0"/>
              <a:t>δ</a:t>
            </a:r>
            <a:r>
              <a:rPr lang="pt-BR" baseline="-25000" dirty="0"/>
              <a:t>i j </a:t>
            </a:r>
            <a:r>
              <a:rPr lang="pt-BR" dirty="0"/>
              <a:t>;</a:t>
            </a:r>
          </a:p>
          <a:p>
            <a:r>
              <a:rPr lang="pt-BR" dirty="0"/>
              <a:t>O atraso acumulado causado pela deterioração da maquina i</a:t>
            </a:r>
            <a:r>
              <a:rPr lang="pt-BR" baseline="-25000" dirty="0"/>
              <a:t> </a:t>
            </a:r>
            <a:r>
              <a:rPr lang="pt-BR" dirty="0"/>
              <a:t>∈ M</a:t>
            </a:r>
            <a:r>
              <a:rPr lang="pt-BR" baseline="-25000" dirty="0"/>
              <a:t> </a:t>
            </a:r>
            <a:r>
              <a:rPr lang="pt-BR" dirty="0"/>
              <a:t>apos o processamento do trabalho j ∈ J é igual a </a:t>
            </a:r>
            <a:r>
              <a:rPr lang="el-GR" dirty="0"/>
              <a:t>δ</a:t>
            </a:r>
            <a:r>
              <a:rPr lang="pt-BR" baseline="-25000" dirty="0"/>
              <a:t>i </a:t>
            </a:r>
            <a:r>
              <a:rPr lang="pt-BR" baseline="-25000" dirty="0" err="1"/>
              <a:t>j</a:t>
            </a:r>
            <a:r>
              <a:rPr lang="pt-BR" dirty="0" err="1"/>
              <a:t>d</a:t>
            </a:r>
            <a:r>
              <a:rPr lang="pt-BR" baseline="-25000" dirty="0" err="1"/>
              <a:t>i</a:t>
            </a:r>
            <a:r>
              <a:rPr lang="pt-BR" baseline="-25000" dirty="0"/>
              <a:t> j </a:t>
            </a:r>
            <a:r>
              <a:rPr lang="pt-BR" dirty="0"/>
              <a:t>;</a:t>
            </a:r>
          </a:p>
          <a:p>
            <a:r>
              <a:rPr lang="pt-BR" dirty="0"/>
              <a:t>O modelo é baseado em espaços de maquina que podem ser preenchidos com trabalho ou manutenção;</a:t>
            </a:r>
          </a:p>
          <a:p>
            <a:r>
              <a:rPr lang="pt-BR" dirty="0"/>
              <a:t>P</a:t>
            </a:r>
            <a:r>
              <a:rPr lang="pt-BR" baseline="-25000" dirty="0"/>
              <a:t>i </a:t>
            </a:r>
            <a:r>
              <a:rPr lang="pt-BR" baseline="-25000" dirty="0" err="1"/>
              <a:t>j</a:t>
            </a:r>
            <a:r>
              <a:rPr lang="pt-BR" dirty="0" err="1"/>
              <a:t>Q</a:t>
            </a:r>
            <a:r>
              <a:rPr lang="pt-BR" baseline="-25000" dirty="0" err="1"/>
              <a:t>i</a:t>
            </a:r>
            <a:r>
              <a:rPr lang="pt-BR" baseline="-25000" dirty="0"/>
              <a:t> h </a:t>
            </a:r>
            <a:r>
              <a:rPr lang="pt-BR" dirty="0"/>
              <a:t># Tempo de processamento do trabalho j ∈ J na maquina i ∈ M no espaço h ∈ H;</a:t>
            </a:r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B1405E-3A8A-47A7-9F1A-4B1AA3B17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28/11/2021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20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F1984-B717-4A3C-B3C5-EC264A11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91362"/>
            <a:ext cx="10058400" cy="702305"/>
          </a:xfrm>
        </p:spPr>
        <p:txBody>
          <a:bodyPr>
            <a:normAutofit fontScale="90000"/>
          </a:bodyPr>
          <a:lstStyle/>
          <a:p>
            <a:r>
              <a:rPr lang="pt-BR" dirty="0"/>
              <a:t>Variáveis de decisão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C03E12-308A-4D2E-97D7-81AD174F8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71413"/>
            <a:ext cx="10058400" cy="4353886"/>
          </a:xfrm>
        </p:spPr>
        <p:txBody>
          <a:bodyPr/>
          <a:lstStyle/>
          <a:p>
            <a:r>
              <a:rPr lang="pt-BR" dirty="0"/>
              <a:t>X</a:t>
            </a:r>
            <a:r>
              <a:rPr lang="pt-BR" baseline="-25000" dirty="0"/>
              <a:t>i j h </a:t>
            </a:r>
            <a:r>
              <a:rPr lang="pt-BR" dirty="0"/>
              <a:t>={0,1}#1 se j ∈ J esta sendo executada no espaço h ∈ H da maquina i ∈ M, 0 caso contrario;</a:t>
            </a:r>
          </a:p>
          <a:p>
            <a:r>
              <a:rPr lang="pt-BR" dirty="0"/>
              <a:t>S</a:t>
            </a:r>
            <a:r>
              <a:rPr lang="pt-BR" baseline="-25000" dirty="0"/>
              <a:t>i h </a:t>
            </a:r>
            <a:r>
              <a:rPr lang="pt-BR" dirty="0"/>
              <a:t>={0,1}#1 se uma manutenção esta sendo executada no espaço h ∈ H da maquina i ∈ M, 0 caso contrario. </a:t>
            </a:r>
          </a:p>
          <a:p>
            <a:r>
              <a:rPr lang="pt-BR" dirty="0"/>
              <a:t>Q</a:t>
            </a:r>
            <a:r>
              <a:rPr lang="pt-BR" baseline="-25000" dirty="0"/>
              <a:t>i h </a:t>
            </a:r>
            <a:r>
              <a:rPr lang="pt-BR" dirty="0"/>
              <a:t># Registra o incremento de tempo causado pela deterioração atual da maquina i ∈ M no espaço h ∈ H, Q</a:t>
            </a:r>
            <a:r>
              <a:rPr lang="pt-BR" baseline="-25000" dirty="0"/>
              <a:t>i h </a:t>
            </a:r>
            <a:r>
              <a:rPr lang="pt-BR" dirty="0"/>
              <a:t>&gt;=1, sendo 1 nenhum incremento;</a:t>
            </a:r>
          </a:p>
          <a:p>
            <a:r>
              <a:rPr lang="pt-BR" dirty="0"/>
              <a:t>C</a:t>
            </a:r>
            <a:r>
              <a:rPr lang="pt-BR" baseline="-25000" dirty="0"/>
              <a:t>MAX </a:t>
            </a:r>
            <a:r>
              <a:rPr lang="pt-BR" dirty="0"/>
              <a:t># Variável “espremedora” indicando o valor do </a:t>
            </a:r>
            <a:r>
              <a:rPr lang="pt-BR" dirty="0" err="1"/>
              <a:t>Makespan</a:t>
            </a:r>
            <a:r>
              <a:rPr lang="pt-BR" dirty="0"/>
              <a:t>, tempo de execução dos trabalhos;</a:t>
            </a:r>
          </a:p>
          <a:p>
            <a:r>
              <a:rPr lang="pt-BR" dirty="0"/>
              <a:t>A</a:t>
            </a:r>
            <a:r>
              <a:rPr lang="pt-BR" baseline="-25000" dirty="0"/>
              <a:t>i j h </a:t>
            </a:r>
            <a:r>
              <a:rPr lang="pt-BR" dirty="0"/>
              <a:t># Variável forçada a ter valor no mínimo igual a P</a:t>
            </a:r>
            <a:r>
              <a:rPr lang="pt-BR" baseline="-25000" dirty="0"/>
              <a:t>i </a:t>
            </a:r>
            <a:r>
              <a:rPr lang="pt-BR" baseline="-25000" dirty="0" err="1"/>
              <a:t>j</a:t>
            </a:r>
            <a:r>
              <a:rPr lang="pt-BR" dirty="0" err="1"/>
              <a:t>Q</a:t>
            </a:r>
            <a:r>
              <a:rPr lang="pt-BR" baseline="-25000" dirty="0" err="1"/>
              <a:t>i</a:t>
            </a:r>
            <a:r>
              <a:rPr lang="pt-BR" baseline="-25000" dirty="0"/>
              <a:t> h </a:t>
            </a:r>
            <a:r>
              <a:rPr lang="pt-BR" dirty="0"/>
              <a:t>quando o trabalho j ∈ J e alocado para o espaço h ∈ H na maquina i ∈ M, 0 caso contrario;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C1C343-EBBF-434E-916F-C10C050D8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28/11/2021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46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1BBD8-ACB1-48FB-ADE5-DEC4D887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C368C1-E5EA-4245-8333-A536B5823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4635"/>
            <a:ext cx="10058400" cy="4328719"/>
          </a:xfrm>
        </p:spPr>
        <p:txBody>
          <a:bodyPr>
            <a:normAutofit/>
          </a:bodyPr>
          <a:lstStyle/>
          <a:p>
            <a:r>
              <a:rPr lang="pt-BR" sz="2800" dirty="0"/>
              <a:t>Min C</a:t>
            </a:r>
            <a:r>
              <a:rPr lang="pt-BR" sz="2800" baseline="-25000" dirty="0"/>
              <a:t>MAX </a:t>
            </a:r>
            <a:r>
              <a:rPr lang="pt-BR" sz="2800" dirty="0"/>
              <a:t>; #esse é o “espremedor”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2DAFC5-2FAB-4C5E-857D-6272E64F1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28/11/2021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500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706D0-8079-4F38-A200-FF9CB0974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2666CF-6496-4B55-9618-59032A39E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6858"/>
            <a:ext cx="10058400" cy="4559980"/>
          </a:xfrm>
        </p:spPr>
        <p:txBody>
          <a:bodyPr>
            <a:normAutofit/>
          </a:bodyPr>
          <a:lstStyle/>
          <a:p>
            <a:r>
              <a:rPr lang="pt-BR" dirty="0"/>
              <a:t>SUM (j ∈ J){ X</a:t>
            </a:r>
            <a:r>
              <a:rPr lang="pt-BR" baseline="-25000" dirty="0"/>
              <a:t>i j </a:t>
            </a:r>
            <a:r>
              <a:rPr lang="pt-BR" baseline="-25000" dirty="0" err="1"/>
              <a:t>h</a:t>
            </a:r>
            <a:r>
              <a:rPr lang="pt-BR" dirty="0" err="1"/>
              <a:t>+S</a:t>
            </a:r>
            <a:r>
              <a:rPr lang="pt-BR" baseline="-25000" dirty="0" err="1"/>
              <a:t>i</a:t>
            </a:r>
            <a:r>
              <a:rPr lang="pt-BR" baseline="-25000" dirty="0"/>
              <a:t> h</a:t>
            </a:r>
            <a:r>
              <a:rPr lang="pt-BR" dirty="0"/>
              <a:t>}</a:t>
            </a:r>
            <a:r>
              <a:rPr lang="pt-BR" baseline="-25000" dirty="0"/>
              <a:t> </a:t>
            </a:r>
            <a:r>
              <a:rPr lang="pt-BR" dirty="0"/>
              <a:t>&lt;=1, ∀i ∈ M, h ∈ H;#Determina que cada espaço </a:t>
            </a:r>
            <a:r>
              <a:rPr lang="pt-BR" dirty="0" err="1"/>
              <a:t>so</a:t>
            </a:r>
            <a:r>
              <a:rPr lang="pt-BR" dirty="0"/>
              <a:t> acomode um trabalho único, ou manutenção, ou ficar vazio;</a:t>
            </a:r>
          </a:p>
          <a:p>
            <a:r>
              <a:rPr lang="pt-BR" dirty="0"/>
              <a:t>SUM(i ∈ M){ SUM(h ∈ H){x</a:t>
            </a:r>
            <a:r>
              <a:rPr lang="pt-BR" baseline="-25000" dirty="0"/>
              <a:t>i j h</a:t>
            </a:r>
            <a:r>
              <a:rPr lang="pt-BR" dirty="0"/>
              <a:t>}}=1, ∀j ∈ J;#Determina que cada trabalho deve ser designado para um espaço de uma maquina;</a:t>
            </a:r>
          </a:p>
          <a:p>
            <a:r>
              <a:rPr lang="pt-BR" dirty="0"/>
              <a:t>A</a:t>
            </a:r>
            <a:r>
              <a:rPr lang="pt-BR" baseline="-25000" dirty="0"/>
              <a:t>i j h</a:t>
            </a:r>
            <a:r>
              <a:rPr lang="pt-BR" dirty="0"/>
              <a:t>&lt;= M</a:t>
            </a:r>
            <a:r>
              <a:rPr lang="pt-BR" baseline="-25000" dirty="0"/>
              <a:t>i</a:t>
            </a:r>
            <a:r>
              <a:rPr lang="pt-BR" baseline="30000" dirty="0"/>
              <a:t>a</a:t>
            </a:r>
            <a:r>
              <a:rPr lang="pt-BR" dirty="0"/>
              <a:t>*x</a:t>
            </a:r>
            <a:r>
              <a:rPr lang="pt-BR" baseline="-25000" dirty="0"/>
              <a:t>i j h</a:t>
            </a:r>
            <a:r>
              <a:rPr lang="pt-BR" dirty="0"/>
              <a:t>, ∀i ∈ M, j ∈ J, h ∈ H;</a:t>
            </a:r>
          </a:p>
          <a:p>
            <a:r>
              <a:rPr lang="pt-BR" dirty="0"/>
              <a:t>A</a:t>
            </a:r>
            <a:r>
              <a:rPr lang="pt-BR" baseline="-25000" dirty="0"/>
              <a:t>i j h</a:t>
            </a:r>
            <a:r>
              <a:rPr lang="pt-BR" dirty="0"/>
              <a:t>&gt;=P</a:t>
            </a:r>
            <a:r>
              <a:rPr lang="pt-BR" baseline="-25000" dirty="0"/>
              <a:t>i </a:t>
            </a:r>
            <a:r>
              <a:rPr lang="pt-BR" baseline="-25000" dirty="0" err="1"/>
              <a:t>j</a:t>
            </a:r>
            <a:r>
              <a:rPr lang="pt-BR" dirty="0" err="1"/>
              <a:t>Q</a:t>
            </a:r>
            <a:r>
              <a:rPr lang="pt-BR" baseline="-25000" dirty="0" err="1"/>
              <a:t>i</a:t>
            </a:r>
            <a:r>
              <a:rPr lang="pt-BR" baseline="-25000" dirty="0"/>
              <a:t> h</a:t>
            </a:r>
            <a:r>
              <a:rPr lang="pt-BR" dirty="0"/>
              <a:t> - M</a:t>
            </a:r>
            <a:r>
              <a:rPr lang="pt-BR" baseline="-25000" dirty="0"/>
              <a:t>i</a:t>
            </a:r>
            <a:r>
              <a:rPr lang="pt-BR" baseline="30000" dirty="0"/>
              <a:t>a </a:t>
            </a:r>
            <a:r>
              <a:rPr lang="pt-BR" dirty="0"/>
              <a:t>(1-X</a:t>
            </a:r>
            <a:r>
              <a:rPr lang="pt-BR" baseline="-25000" dirty="0"/>
              <a:t>i j h</a:t>
            </a:r>
            <a:r>
              <a:rPr lang="pt-BR" dirty="0"/>
              <a:t>), ∀i ∈ M, j ∈ J, h ∈ H;</a:t>
            </a:r>
          </a:p>
          <a:p>
            <a:r>
              <a:rPr lang="pt-BR" dirty="0"/>
              <a:t>#As duas anteriores são utilizadas para definir o tempo atual de processamento de um trabalho j ∈ J no espaço h ∈ H da maquina m, com M</a:t>
            </a:r>
            <a:r>
              <a:rPr lang="pt-BR" baseline="-25000" dirty="0"/>
              <a:t>i</a:t>
            </a:r>
            <a:r>
              <a:rPr lang="pt-BR" baseline="30000" dirty="0"/>
              <a:t>a</a:t>
            </a:r>
            <a:r>
              <a:rPr lang="pt-BR" dirty="0"/>
              <a:t>=SUM(j ∈ J){p</a:t>
            </a:r>
            <a:r>
              <a:rPr lang="pt-BR" baseline="-25000" dirty="0"/>
              <a:t>i j</a:t>
            </a:r>
            <a:r>
              <a:rPr lang="pt-BR" dirty="0"/>
              <a:t>} como uma constante suficientemente grande, para toda maquinha i ∈ M, desta forma fixando o valor de a</a:t>
            </a:r>
            <a:r>
              <a:rPr lang="pt-BR" baseline="-25000" dirty="0"/>
              <a:t>i j h</a:t>
            </a:r>
            <a:r>
              <a:rPr lang="pt-BR" dirty="0"/>
              <a:t> sempre que x</a:t>
            </a:r>
            <a:r>
              <a:rPr lang="pt-BR" baseline="-25000" dirty="0"/>
              <a:t>i j h </a:t>
            </a:r>
            <a:r>
              <a:rPr lang="pt-BR" dirty="0"/>
              <a:t>=1;</a:t>
            </a:r>
          </a:p>
          <a:p>
            <a:r>
              <a:rPr lang="pt-BR" dirty="0"/>
              <a:t> SUM(j ∈ J){SUM(h ∈ H){a</a:t>
            </a:r>
            <a:r>
              <a:rPr lang="pt-BR" baseline="-25000" dirty="0"/>
              <a:t>i j</a:t>
            </a:r>
            <a:r>
              <a:rPr lang="pt-BR" dirty="0"/>
              <a:t>}}+SUM(h ∈ H)</a:t>
            </a:r>
            <a:r>
              <a:rPr lang="pt-BR" dirty="0" err="1"/>
              <a:t>t</a:t>
            </a:r>
            <a:r>
              <a:rPr lang="pt-BR" baseline="-25000" dirty="0" err="1"/>
              <a:t>i</a:t>
            </a:r>
            <a:r>
              <a:rPr lang="pt-BR" dirty="0" err="1"/>
              <a:t>s</a:t>
            </a:r>
            <a:r>
              <a:rPr lang="pt-BR" baseline="-25000" dirty="0" err="1"/>
              <a:t>i</a:t>
            </a:r>
            <a:r>
              <a:rPr lang="pt-BR" baseline="-25000" dirty="0"/>
              <a:t> h</a:t>
            </a:r>
            <a:r>
              <a:rPr lang="pt-BR" dirty="0"/>
              <a:t>-C</a:t>
            </a:r>
            <a:r>
              <a:rPr lang="pt-BR" baseline="-25000" dirty="0"/>
              <a:t>MAX</a:t>
            </a:r>
            <a:r>
              <a:rPr lang="pt-BR" dirty="0"/>
              <a:t>&lt;=0, ∀i ∈ M;#Usado para calcular o tempo de Produção, o </a:t>
            </a:r>
            <a:r>
              <a:rPr lang="pt-BR" dirty="0" err="1"/>
              <a:t>Makespan</a:t>
            </a:r>
            <a:r>
              <a:rPr lang="pt-BR" dirty="0"/>
              <a:t>;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613ADC-C122-4D2B-9C49-88911A274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28/11/2021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90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FF6D5-74D4-44CD-A74E-825AFDD2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DD9903-0699-4BA5-9DEB-EBF0E77A9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86857"/>
            <a:ext cx="10058400" cy="3982235"/>
          </a:xfrm>
        </p:spPr>
        <p:txBody>
          <a:bodyPr>
            <a:normAutofit/>
          </a:bodyPr>
          <a:lstStyle/>
          <a:p>
            <a:r>
              <a:rPr lang="pt-BR" dirty="0"/>
              <a:t>Q</a:t>
            </a:r>
            <a:r>
              <a:rPr lang="pt-BR" baseline="-25000" dirty="0"/>
              <a:t>i h</a:t>
            </a:r>
            <a:r>
              <a:rPr lang="pt-BR" dirty="0"/>
              <a:t>&gt;=</a:t>
            </a:r>
            <a:r>
              <a:rPr lang="pt-BR" dirty="0" err="1"/>
              <a:t>d</a:t>
            </a:r>
            <a:r>
              <a:rPr lang="pt-BR" baseline="-25000" dirty="0" err="1"/>
              <a:t>i</a:t>
            </a:r>
            <a:r>
              <a:rPr lang="pt-BR" baseline="-25000" dirty="0"/>
              <a:t> </a:t>
            </a:r>
            <a:r>
              <a:rPr lang="pt-BR" baseline="-25000" dirty="0" err="1"/>
              <a:t>j</a:t>
            </a:r>
            <a:r>
              <a:rPr lang="pt-BR" dirty="0" err="1"/>
              <a:t>q</a:t>
            </a:r>
            <a:r>
              <a:rPr lang="pt-BR" baseline="-25000" dirty="0" err="1"/>
              <a:t>i</a:t>
            </a:r>
            <a:r>
              <a:rPr lang="pt-BR" baseline="-25000" dirty="0"/>
              <a:t> h-1</a:t>
            </a:r>
            <a:r>
              <a:rPr lang="pt-BR" dirty="0"/>
              <a:t>- </a:t>
            </a:r>
            <a:r>
              <a:rPr lang="pt-BR" dirty="0" err="1"/>
              <a:t>M</a:t>
            </a:r>
            <a:r>
              <a:rPr lang="pt-BR" baseline="-25000" dirty="0" err="1"/>
              <a:t>i</a:t>
            </a:r>
            <a:r>
              <a:rPr lang="pt-BR" baseline="30000" dirty="0" err="1"/>
              <a:t>b</a:t>
            </a:r>
            <a:r>
              <a:rPr lang="pt-BR" dirty="0"/>
              <a:t> (s</a:t>
            </a:r>
            <a:r>
              <a:rPr lang="pt-BR" baseline="-25000" dirty="0"/>
              <a:t>i h-1</a:t>
            </a:r>
            <a:r>
              <a:rPr lang="pt-BR" dirty="0"/>
              <a:t>+ 1-x</a:t>
            </a:r>
            <a:r>
              <a:rPr lang="pt-BR" baseline="-25000" dirty="0"/>
              <a:t>i j h-1</a:t>
            </a:r>
            <a:r>
              <a:rPr lang="pt-BR" dirty="0"/>
              <a:t>), ∀i ∈ M, j ∈ J, h ∈ H\{1};#É adotado a constante suficientemente grande </a:t>
            </a:r>
            <a:r>
              <a:rPr lang="pt-BR" dirty="0" err="1"/>
              <a:t>M</a:t>
            </a:r>
            <a:r>
              <a:rPr lang="pt-BR" baseline="-25000" dirty="0" err="1"/>
              <a:t>i</a:t>
            </a:r>
            <a:r>
              <a:rPr lang="pt-BR" baseline="30000" dirty="0" err="1"/>
              <a:t>b</a:t>
            </a:r>
            <a:r>
              <a:rPr lang="pt-BR" dirty="0"/>
              <a:t> =PROD(j ∈ J) {</a:t>
            </a:r>
            <a:r>
              <a:rPr lang="pt-BR" dirty="0" err="1"/>
              <a:t>d</a:t>
            </a:r>
            <a:r>
              <a:rPr lang="pt-BR" baseline="-25000" dirty="0" err="1"/>
              <a:t>i</a:t>
            </a:r>
            <a:r>
              <a:rPr lang="pt-BR" baseline="-25000" dirty="0"/>
              <a:t> j</a:t>
            </a:r>
            <a:r>
              <a:rPr lang="pt-BR" dirty="0"/>
              <a:t>}, para toda maquina i ∈ M, para calcular o incremento de tempo causado pela deterioração;</a:t>
            </a:r>
          </a:p>
          <a:p>
            <a:r>
              <a:rPr lang="pt-BR" dirty="0"/>
              <a:t>Q</a:t>
            </a:r>
            <a:r>
              <a:rPr lang="pt-BR" baseline="-25000" dirty="0"/>
              <a:t>i 1</a:t>
            </a:r>
            <a:r>
              <a:rPr lang="pt-BR" dirty="0"/>
              <a:t>=1, ∀i ∈ M;#Usada para impor performance máxima para todas as maquinas em seu primeiro processamento;</a:t>
            </a:r>
          </a:p>
          <a:p>
            <a:r>
              <a:rPr lang="pt-BR" dirty="0"/>
              <a:t>X</a:t>
            </a:r>
            <a:r>
              <a:rPr lang="pt-BR" baseline="-25000" dirty="0"/>
              <a:t>i j h</a:t>
            </a:r>
            <a:r>
              <a:rPr lang="pt-BR" dirty="0"/>
              <a:t>, </a:t>
            </a:r>
            <a:r>
              <a:rPr lang="pt-BR" dirty="0" err="1"/>
              <a:t>binary</a:t>
            </a:r>
            <a:r>
              <a:rPr lang="pt-BR" baseline="-25000" dirty="0"/>
              <a:t>, </a:t>
            </a:r>
            <a:r>
              <a:rPr lang="pt-BR" dirty="0"/>
              <a:t>∀i ∈ M, j ∈ J, h ∈ H;#Garantia de domínio</a:t>
            </a:r>
            <a:endParaRPr lang="pt-BR" baseline="-25000" dirty="0"/>
          </a:p>
          <a:p>
            <a:r>
              <a:rPr lang="pt-BR" dirty="0"/>
              <a:t>S</a:t>
            </a:r>
            <a:r>
              <a:rPr lang="pt-BR" baseline="-25000" dirty="0"/>
              <a:t>i h</a:t>
            </a:r>
            <a:r>
              <a:rPr lang="pt-BR" dirty="0"/>
              <a:t>, </a:t>
            </a:r>
            <a:r>
              <a:rPr lang="pt-BR" dirty="0" err="1"/>
              <a:t>binary</a:t>
            </a:r>
            <a:r>
              <a:rPr lang="pt-BR" dirty="0"/>
              <a:t>, ∀i ∈ M, h ∈ H; #Garantia de domínio</a:t>
            </a:r>
          </a:p>
          <a:p>
            <a:r>
              <a:rPr lang="pt-BR" dirty="0"/>
              <a:t>A</a:t>
            </a:r>
            <a:r>
              <a:rPr lang="pt-BR" baseline="-25000" dirty="0"/>
              <a:t>i j h</a:t>
            </a:r>
            <a:r>
              <a:rPr lang="pt-BR" dirty="0"/>
              <a:t>&gt;=0, ∀i ∈ M, j ∈ J, h ∈ H; #Garantia de domínio</a:t>
            </a:r>
          </a:p>
          <a:p>
            <a:r>
              <a:rPr lang="pt-BR" dirty="0"/>
              <a:t>Q</a:t>
            </a:r>
            <a:r>
              <a:rPr lang="pt-BR" baseline="-25000" dirty="0"/>
              <a:t>i h</a:t>
            </a:r>
            <a:r>
              <a:rPr lang="pt-BR" dirty="0"/>
              <a:t>&gt;=1, ∀i ∈ M, h ∈ H; #Garantia de domínio</a:t>
            </a:r>
          </a:p>
          <a:p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176978-141B-4E88-B503-0ED809EE7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28/11/2021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6768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0_TF56160789" id="{B2A6CC81-05B9-4965-ACA7-26996AEDFC91}" vid="{618108A3-190A-4DA1-A261-3F406864D78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{8697EB05-8380-469E-B209-F83C11210785}tf56160789_win32</Template>
  <TotalTime>117</TotalTime>
  <Words>900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Bookman Old Style</vt:lpstr>
      <vt:lpstr>Calibri</vt:lpstr>
      <vt:lpstr>Franklin Gothic Book</vt:lpstr>
      <vt:lpstr>1_RetrospectVTI</vt:lpstr>
      <vt:lpstr>Um modelo matemático para organização de trabalho e manutenção de máquinas que executam trabalhos com deterioração  interdependente </vt:lpstr>
      <vt:lpstr>Máquinas que possuem alto nível de ocupação comumente apresentam problemas de desgaste que podem impactar severamente o seu desempenho. Nestes casos, atividades de manutenção podem ser planejadas para restaurar a produtividade máxima. Neste trabalho tratamos um problema de escalonamento de tarefas e manutenções em um conjunto de maquinas paralelas não correlatas  em que se considera que o tempo de processamento cresce de acordo com um fator de deterioração que depende da maquina e da própria tarefa.</vt:lpstr>
      <vt:lpstr>Parâmetro</vt:lpstr>
      <vt:lpstr>Desta forma</vt:lpstr>
      <vt:lpstr>Variáveis de decisão </vt:lpstr>
      <vt:lpstr>Função Objetivo</vt:lpstr>
      <vt:lpstr>Restrições  </vt:lpstr>
      <vt:lpstr>Restrições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Geraldo</dc:creator>
  <cp:lastModifiedBy>Marcos Geraldo</cp:lastModifiedBy>
  <cp:revision>9</cp:revision>
  <dcterms:created xsi:type="dcterms:W3CDTF">2021-11-28T16:29:43Z</dcterms:created>
  <dcterms:modified xsi:type="dcterms:W3CDTF">2021-11-28T18:41:33Z</dcterms:modified>
</cp:coreProperties>
</file>